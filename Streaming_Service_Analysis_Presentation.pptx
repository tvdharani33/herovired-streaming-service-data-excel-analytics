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a9\Downloads\streaming_service_data\DharaniTV_CPDA(SUN)_B1%20UPDAT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a9\Downloads\streaming_service_data\DharaniTV_CPDA(SUN)_B1%20UPDAT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a9\Downloads\streaming_service_data\DharaniTV_CPDA(SUN)_B1%20UPDATE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a9\Downloads\streaming_service_data\DharaniTV_CPDA(SUN)_B1%20UPDAT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a9\Downloads\streaming_service_data\DharaniTV_CPDA(SUN)_B1%20UPDAT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a9\Downloads\streaming_service_data\DharaniTV_CPDA(SUN)_B1%20UPDATE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[DharaniTV_CPDA(SUN)_B1 UPDATED.xlsx]MONTHLY REVENUE BY SUB PLANS!PivotTable4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MONTHLY REVENUE</a:t>
            </a:r>
            <a:r>
              <a:rPr lang="en-US" b="1" u="sng" baseline="0">
                <a:solidFill>
                  <a:srgbClr val="C00000"/>
                </a:solidFill>
              </a:rPr>
              <a:t> BY PLANS</a:t>
            </a:r>
            <a:endParaRPr lang="en-US" b="1" u="sng"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'MONTHLY REVENUE BY SUB PLANS'!$B$3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rgbClr val="FFFF00"/>
              </a:solidFill>
            </a:ln>
            <a:effectLst/>
            <a:sp3d>
              <a:contourClr>
                <a:srgbClr val="FFFF00"/>
              </a:contourClr>
            </a:sp3d>
          </c:spPr>
          <c:invertIfNegative val="0"/>
          <c:cat>
            <c:strRef>
              <c:f>'MONTHLY REVENUE BY SUB PLANS'!$A$4:$A$7</c:f>
              <c:strCache>
                <c:ptCount val="3"/>
                <c:pt idx="0">
                  <c:v>7.99</c:v>
                </c:pt>
                <c:pt idx="1">
                  <c:v>11.99</c:v>
                </c:pt>
                <c:pt idx="2">
                  <c:v>15.99</c:v>
                </c:pt>
              </c:strCache>
            </c:strRef>
          </c:cat>
          <c:val>
            <c:numRef>
              <c:f>'MONTHLY REVENUE BY SUB PLANS'!$B$4:$B$7</c:f>
              <c:numCache>
                <c:formatCode>General</c:formatCode>
                <c:ptCount val="3"/>
                <c:pt idx="0">
                  <c:v>2157.2999999999993</c:v>
                </c:pt>
                <c:pt idx="1">
                  <c:v>3585.0099999999734</c:v>
                </c:pt>
                <c:pt idx="2">
                  <c:v>4493.1899999999678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10-4770-B383-4878F0E9AB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41224335"/>
        <c:axId val="941223855"/>
        <c:axId val="0"/>
      </c:bar3DChart>
      <c:catAx>
        <c:axId val="9412243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sng" strike="noStrike" kern="1200" baseline="0">
                    <a:solidFill>
                      <a:srgbClr val="00B050"/>
                    </a:solidFill>
                  </a:rPr>
                  <a:t>SUBSCRIPTION PLAN WISE</a:t>
                </a:r>
                <a:endParaRPr lang="en-IN" sz="900" b="1" i="0" u="none" strike="noStrike" kern="1200" baseline="0">
                  <a:solidFill>
                    <a:srgbClr val="00B05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1223855"/>
        <c:crosses val="autoZero"/>
        <c:auto val="1"/>
        <c:lblAlgn val="ctr"/>
        <c:lblOffset val="100"/>
        <c:noMultiLvlLbl val="0"/>
      </c:catAx>
      <c:valAx>
        <c:axId val="94122385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1" i="0" u="sng" strike="noStrike" kern="1200" baseline="0">
                    <a:solidFill>
                      <a:srgbClr val="00B050"/>
                    </a:solidFill>
                  </a:rPr>
                  <a:t>MONTHLY REVENUE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defRPr>
                </a:pP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122433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6">
            <a:lumMod val="60000"/>
            <a:lumOff val="40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[DharaniTV_CPDA(SUN)_B1 UPDATED.xlsx]USER COUNT BY SUBSCRIPTION!PivotTable3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USER</a:t>
            </a:r>
            <a:r>
              <a:rPr lang="en-US" b="1" u="sng" baseline="0">
                <a:solidFill>
                  <a:srgbClr val="C00000"/>
                </a:solidFill>
              </a:rPr>
              <a:t> DISTRIBUTION ACROSS PLANS</a:t>
            </a:r>
            <a:endParaRPr lang="en-US" b="1" u="sng"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</c:pivotFmt>
      <c:pivotFmt>
        <c:idx val="1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cene3d>
          <a:camera prst="orthographicFront"/>
          <a:lightRig rig="threePt" dir="t"/>
        </a:scene3d>
        <a:sp3d/>
      </c:spPr>
    </c:sideWall>
    <c:backWall>
      <c:thickness val="0"/>
      <c:spPr>
        <a:noFill/>
        <a:ln>
          <a:noFill/>
        </a:ln>
        <a:effectLst/>
        <a:scene3d>
          <a:camera prst="orthographicFront"/>
          <a:lightRig rig="threePt" dir="t"/>
        </a:scene3d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'USER COUNT BY SUBSCRIPTION'!$B$3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rgbClr val="FFFF00"/>
              </a:solidFill>
            </a:ln>
            <a:effectLst/>
            <a:sp3d>
              <a:contourClr>
                <a:srgbClr val="FFFF00"/>
              </a:contourClr>
            </a:sp3d>
          </c:spPr>
          <c:invertIfNegative val="0"/>
          <c:cat>
            <c:strRef>
              <c:f>'USER COUNT BY SUBSCRIPTION'!$A$4:$A$7</c:f>
              <c:strCache>
                <c:ptCount val="3"/>
                <c:pt idx="0">
                  <c:v>7.99</c:v>
                </c:pt>
                <c:pt idx="1">
                  <c:v>11.99</c:v>
                </c:pt>
                <c:pt idx="2">
                  <c:v>15.99</c:v>
                </c:pt>
              </c:strCache>
            </c:strRef>
          </c:cat>
          <c:val>
            <c:numRef>
              <c:f>'USER COUNT BY SUBSCRIPTION'!$B$4:$B$7</c:f>
              <c:numCache>
                <c:formatCode>General</c:formatCode>
                <c:ptCount val="3"/>
                <c:pt idx="0">
                  <c:v>270</c:v>
                </c:pt>
                <c:pt idx="1">
                  <c:v>299</c:v>
                </c:pt>
                <c:pt idx="2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55-4611-B8A1-3FDA7702F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89892479"/>
        <c:axId val="689894399"/>
        <c:axId val="0"/>
      </c:bar3DChart>
      <c:catAx>
        <c:axId val="6898924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SUBSCRIPTION</a:t>
                </a:r>
                <a:r>
                  <a:rPr lang="en-IN" b="1" u="sng" baseline="0">
                    <a:solidFill>
                      <a:srgbClr val="00B050"/>
                    </a:solidFill>
                  </a:rPr>
                  <a:t> PLAN WISE</a:t>
                </a:r>
                <a:endParaRPr lang="en-IN" b="1" u="sng">
                  <a:solidFill>
                    <a:srgbClr val="00B05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9894399"/>
        <c:crosses val="autoZero"/>
        <c:auto val="1"/>
        <c:lblAlgn val="ctr"/>
        <c:lblOffset val="100"/>
        <c:noMultiLvlLbl val="0"/>
      </c:catAx>
      <c:valAx>
        <c:axId val="6898943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USER</a:t>
                </a:r>
                <a:r>
                  <a:rPr lang="en-IN" b="1" u="sng" baseline="0">
                    <a:solidFill>
                      <a:srgbClr val="00B050"/>
                    </a:solidFill>
                  </a:rPr>
                  <a:t> COUNT</a:t>
                </a:r>
                <a:endParaRPr lang="en-IN" b="1" u="sng">
                  <a:solidFill>
                    <a:srgbClr val="00B05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989247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accent6">
            <a:lumMod val="60000"/>
            <a:lumOff val="40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[DharaniTV_CPDA(SUN)_B1 UPDATED.xlsx]PREFERRED GENRE BY AGE GRP!PivotTable5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u="sng">
                <a:solidFill>
                  <a:srgbClr val="C00000"/>
                </a:solidFill>
              </a:rPr>
              <a:t>PREFERRED GENRE BY AGE GRP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'PREFERRED GENRE BY AGE GRP'!$B$3:$B$4</c:f>
              <c:strCache>
                <c:ptCount val="1"/>
                <c:pt idx="0">
                  <c:v>Comedy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'PREFERRED GENRE BY AGE GRP'!$A$5:$A$10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'PREFERRED GENRE BY AGE GRP'!$B$5:$B$10</c:f>
              <c:numCache>
                <c:formatCode>General</c:formatCode>
                <c:ptCount val="5"/>
                <c:pt idx="0">
                  <c:v>23</c:v>
                </c:pt>
                <c:pt idx="1">
                  <c:v>29</c:v>
                </c:pt>
                <c:pt idx="2">
                  <c:v>29</c:v>
                </c:pt>
                <c:pt idx="3">
                  <c:v>26</c:v>
                </c:pt>
                <c:pt idx="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D1-40FB-BE3C-FA16580C3AC7}"/>
            </c:ext>
          </c:extLst>
        </c:ser>
        <c:ser>
          <c:idx val="1"/>
          <c:order val="1"/>
          <c:tx>
            <c:strRef>
              <c:f>'PREFERRED GENRE BY AGE GRP'!$C$3:$C$4</c:f>
              <c:strCache>
                <c:ptCount val="1"/>
                <c:pt idx="0">
                  <c:v>Documentary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'PREFERRED GENRE BY AGE GRP'!$A$5:$A$10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'PREFERRED GENRE BY AGE GRP'!$C$5:$C$10</c:f>
              <c:numCache>
                <c:formatCode>General</c:formatCode>
                <c:ptCount val="5"/>
                <c:pt idx="0">
                  <c:v>36</c:v>
                </c:pt>
                <c:pt idx="1">
                  <c:v>21</c:v>
                </c:pt>
                <c:pt idx="2">
                  <c:v>22</c:v>
                </c:pt>
                <c:pt idx="3">
                  <c:v>22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D1-40FB-BE3C-FA16580C3AC7}"/>
            </c:ext>
          </c:extLst>
        </c:ser>
        <c:ser>
          <c:idx val="2"/>
          <c:order val="2"/>
          <c:tx>
            <c:strRef>
              <c:f>'PREFERRED GENRE BY AGE GRP'!$D$3:$D$4</c:f>
              <c:strCache>
                <c:ptCount val="1"/>
                <c:pt idx="0">
                  <c:v>Drama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'PREFERRED GENRE BY AGE GRP'!$A$5:$A$10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'PREFERRED GENRE BY AGE GRP'!$D$5:$D$10</c:f>
              <c:numCache>
                <c:formatCode>General</c:formatCode>
                <c:ptCount val="5"/>
                <c:pt idx="0">
                  <c:v>25</c:v>
                </c:pt>
                <c:pt idx="1">
                  <c:v>31</c:v>
                </c:pt>
                <c:pt idx="2">
                  <c:v>27</c:v>
                </c:pt>
                <c:pt idx="3">
                  <c:v>31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D1-40FB-BE3C-FA16580C3AC7}"/>
            </c:ext>
          </c:extLst>
        </c:ser>
        <c:ser>
          <c:idx val="3"/>
          <c:order val="3"/>
          <c:tx>
            <c:strRef>
              <c:f>'PREFERRED GENRE BY AGE GRP'!$E$3:$E$4</c:f>
              <c:strCache>
                <c:ptCount val="1"/>
                <c:pt idx="0">
                  <c:v>Horror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'PREFERRED GENRE BY AGE GRP'!$A$5:$A$10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'PREFERRED GENRE BY AGE GRP'!$E$5:$E$10</c:f>
              <c:numCache>
                <c:formatCode>General</c:formatCode>
                <c:ptCount val="5"/>
                <c:pt idx="0">
                  <c:v>23</c:v>
                </c:pt>
                <c:pt idx="1">
                  <c:v>36</c:v>
                </c:pt>
                <c:pt idx="2">
                  <c:v>34</c:v>
                </c:pt>
                <c:pt idx="3">
                  <c:v>32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ED1-40FB-BE3C-FA16580C3AC7}"/>
            </c:ext>
          </c:extLst>
        </c:ser>
        <c:ser>
          <c:idx val="4"/>
          <c:order val="4"/>
          <c:tx>
            <c:strRef>
              <c:f>'PREFERRED GENRE BY AGE GRP'!$F$3:$F$4</c:f>
              <c:strCache>
                <c:ptCount val="1"/>
                <c:pt idx="0">
                  <c:v>Romance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'PREFERRED GENRE BY AGE GRP'!$A$5:$A$10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'PREFERRED GENRE BY AGE GRP'!$F$5:$F$10</c:f>
              <c:numCache>
                <c:formatCode>General</c:formatCode>
                <c:ptCount val="5"/>
                <c:pt idx="0">
                  <c:v>24</c:v>
                </c:pt>
                <c:pt idx="1">
                  <c:v>27</c:v>
                </c:pt>
                <c:pt idx="2">
                  <c:v>32</c:v>
                </c:pt>
                <c:pt idx="3">
                  <c:v>36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D1-40FB-BE3C-FA16580C3AC7}"/>
            </c:ext>
          </c:extLst>
        </c:ser>
        <c:ser>
          <c:idx val="5"/>
          <c:order val="5"/>
          <c:tx>
            <c:strRef>
              <c:f>'PREFERRED GENRE BY AGE GRP'!$G$3:$G$4</c:f>
              <c:strCache>
                <c:ptCount val="1"/>
                <c:pt idx="0">
                  <c:v>Sci-Fi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'PREFERRED GENRE BY AGE GRP'!$A$5:$A$10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'PREFERRED GENRE BY AGE GRP'!$G$5:$G$10</c:f>
              <c:numCache>
                <c:formatCode>General</c:formatCode>
                <c:ptCount val="5"/>
                <c:pt idx="0">
                  <c:v>23</c:v>
                </c:pt>
                <c:pt idx="1">
                  <c:v>23</c:v>
                </c:pt>
                <c:pt idx="2">
                  <c:v>31</c:v>
                </c:pt>
                <c:pt idx="3">
                  <c:v>27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ED1-40FB-BE3C-FA16580C3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21537151"/>
        <c:axId val="1921537631"/>
      </c:barChart>
      <c:catAx>
        <c:axId val="1921537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AGE GRPS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1537631"/>
        <c:crosses val="autoZero"/>
        <c:auto val="1"/>
        <c:lblAlgn val="ctr"/>
        <c:lblOffset val="100"/>
        <c:noMultiLvlLbl val="0"/>
      </c:catAx>
      <c:valAx>
        <c:axId val="1921537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FAVOURITE</a:t>
                </a:r>
                <a:r>
                  <a:rPr lang="en-IN" baseline="0">
                    <a:solidFill>
                      <a:srgbClr val="00B050"/>
                    </a:solidFill>
                  </a:rPr>
                  <a:t> </a:t>
                </a:r>
                <a:r>
                  <a:rPr lang="en-IN" b="1" u="sng" baseline="0">
                    <a:solidFill>
                      <a:srgbClr val="00B050"/>
                    </a:solidFill>
                  </a:rPr>
                  <a:t>GENRE</a:t>
                </a:r>
                <a:endParaRPr lang="en-IN" b="1" u="sng">
                  <a:solidFill>
                    <a:srgbClr val="00B05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153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bg1"/>
        </a:gs>
        <a:gs pos="53872">
          <a:schemeClr val="bg2"/>
        </a:gs>
        <a:gs pos="0">
          <a:schemeClr val="accent6">
            <a:lumMod val="40000"/>
            <a:lumOff val="60000"/>
          </a:schemeClr>
        </a:gs>
        <a:gs pos="74000">
          <a:schemeClr val="bg2"/>
        </a:gs>
        <a:gs pos="83000">
          <a:schemeClr val="accent1">
            <a:lumMod val="20000"/>
            <a:lumOff val="80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[DharaniTV_CPDA(SUN)_B1 UPDATED.xlsx]PEAK WATCH TIME!PivotTable7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PEAK WATCH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</c:pivotFmt>
      <c:pivotFmt>
        <c:idx val="1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'PEAK WATCH TIME'!$B$3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rgbClr val="FFFF00"/>
              </a:solidFill>
            </a:ln>
            <a:effectLst/>
            <a:sp3d>
              <a:contourClr>
                <a:srgbClr val="FFFF00"/>
              </a:contourClr>
            </a:sp3d>
          </c:spPr>
          <c:invertIfNegative val="0"/>
          <c:cat>
            <c:strRef>
              <c:f>'PEAK WATCH TIME'!$A$4:$A$8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Late Night</c:v>
                </c:pt>
                <c:pt idx="3">
                  <c:v>Morning</c:v>
                </c:pt>
              </c:strCache>
            </c:strRef>
          </c:cat>
          <c:val>
            <c:numRef>
              <c:f>'PEAK WATCH TIME'!$B$4:$B$8</c:f>
              <c:numCache>
                <c:formatCode>General</c:formatCode>
                <c:ptCount val="4"/>
                <c:pt idx="0">
                  <c:v>251</c:v>
                </c:pt>
                <c:pt idx="1">
                  <c:v>256</c:v>
                </c:pt>
                <c:pt idx="2">
                  <c:v>271</c:v>
                </c:pt>
                <c:pt idx="3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51-481C-996A-D9FD8A9D4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21559231"/>
        <c:axId val="1921559711"/>
        <c:axId val="0"/>
      </c:bar3DChart>
      <c:catAx>
        <c:axId val="1921559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PEAK WATCH</a:t>
                </a:r>
                <a:r>
                  <a:rPr lang="en-IN" b="1" u="sng" baseline="0">
                    <a:solidFill>
                      <a:srgbClr val="00B050"/>
                    </a:solidFill>
                  </a:rPr>
                  <a:t> TIME</a:t>
                </a:r>
                <a:endParaRPr lang="en-IN" b="1" u="sng">
                  <a:solidFill>
                    <a:srgbClr val="00B05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1559711"/>
        <c:crosses val="autoZero"/>
        <c:auto val="1"/>
        <c:lblAlgn val="ctr"/>
        <c:lblOffset val="100"/>
        <c:noMultiLvlLbl val="0"/>
      </c:catAx>
      <c:valAx>
        <c:axId val="19215597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USER 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155923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rgbClr val="92D050">
            <a:lumMod val="60000"/>
            <a:lumOff val="40000"/>
          </a:srgbClr>
        </a:gs>
        <a:gs pos="0">
          <a:srgbClr val="92D050"/>
        </a:gs>
        <a:gs pos="74000">
          <a:schemeClr val="accent1">
            <a:lumMod val="20000"/>
            <a:lumOff val="80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[DharaniTV_CPDA(SUN)_B1 UPDATED.xlsx]PAYMENT METHOD BY REGION!PivotTable11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u="sng">
                <a:solidFill>
                  <a:srgbClr val="C00000"/>
                </a:solidFill>
              </a:rPr>
              <a:t>PAYMENT</a:t>
            </a:r>
            <a:r>
              <a:rPr lang="en-IN" b="1" u="sng" baseline="0">
                <a:solidFill>
                  <a:srgbClr val="C00000"/>
                </a:solidFill>
              </a:rPr>
              <a:t> METHOD BY REGION</a:t>
            </a:r>
            <a:endParaRPr lang="en-IN" b="1" u="sng"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'PAYMENT METHOD BY REGION'!$B$3:$B$4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'PAYMENT METHOD BY REGION'!$A$5:$A$12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METHOD BY REGION'!$B$5:$B$12</c:f>
              <c:numCache>
                <c:formatCode>General</c:formatCode>
                <c:ptCount val="7"/>
                <c:pt idx="0">
                  <c:v>22</c:v>
                </c:pt>
                <c:pt idx="1">
                  <c:v>34</c:v>
                </c:pt>
                <c:pt idx="2">
                  <c:v>39</c:v>
                </c:pt>
                <c:pt idx="3">
                  <c:v>31</c:v>
                </c:pt>
                <c:pt idx="4">
                  <c:v>25</c:v>
                </c:pt>
                <c:pt idx="5">
                  <c:v>33</c:v>
                </c:pt>
                <c:pt idx="6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B-4C9E-BA59-5DA90568770A}"/>
            </c:ext>
          </c:extLst>
        </c:ser>
        <c:ser>
          <c:idx val="1"/>
          <c:order val="1"/>
          <c:tx>
            <c:strRef>
              <c:f>'PAYMENT METHOD BY REGION'!$C$3:$C$4</c:f>
              <c:strCache>
                <c:ptCount val="1"/>
                <c:pt idx="0">
                  <c:v>Cryptocurrency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cat>
            <c:strRef>
              <c:f>'PAYMENT METHOD BY REGION'!$A$5:$A$12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METHOD BY REGION'!$C$5:$C$12</c:f>
              <c:numCache>
                <c:formatCode>General</c:formatCode>
                <c:ptCount val="7"/>
                <c:pt idx="0">
                  <c:v>44</c:v>
                </c:pt>
                <c:pt idx="1">
                  <c:v>27</c:v>
                </c:pt>
                <c:pt idx="2">
                  <c:v>41</c:v>
                </c:pt>
                <c:pt idx="3">
                  <c:v>35</c:v>
                </c:pt>
                <c:pt idx="4">
                  <c:v>29</c:v>
                </c:pt>
                <c:pt idx="5">
                  <c:v>38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EB-4C9E-BA59-5DA90568770A}"/>
            </c:ext>
          </c:extLst>
        </c:ser>
        <c:ser>
          <c:idx val="2"/>
          <c:order val="2"/>
          <c:tx>
            <c:strRef>
              <c:f>'PAYMENT METHOD BY REGION'!$D$3:$D$4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cat>
            <c:strRef>
              <c:f>'PAYMENT METHOD BY REGION'!$A$5:$A$12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METHOD BY REGION'!$D$5:$D$12</c:f>
              <c:numCache>
                <c:formatCode>General</c:formatCode>
                <c:ptCount val="7"/>
                <c:pt idx="0">
                  <c:v>38</c:v>
                </c:pt>
                <c:pt idx="1">
                  <c:v>36</c:v>
                </c:pt>
                <c:pt idx="2">
                  <c:v>31</c:v>
                </c:pt>
                <c:pt idx="3">
                  <c:v>43</c:v>
                </c:pt>
                <c:pt idx="4">
                  <c:v>39</c:v>
                </c:pt>
                <c:pt idx="5">
                  <c:v>31</c:v>
                </c:pt>
                <c:pt idx="6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EB-4C9E-BA59-5DA90568770A}"/>
            </c:ext>
          </c:extLst>
        </c:ser>
        <c:ser>
          <c:idx val="3"/>
          <c:order val="3"/>
          <c:tx>
            <c:strRef>
              <c:f>'PAYMENT METHOD BY REGION'!$E$3:$E$4</c:f>
              <c:strCache>
                <c:ptCount val="1"/>
                <c:pt idx="0">
                  <c:v>PayPal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'PAYMENT METHOD BY REGION'!$A$5:$A$12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METHOD BY REGION'!$E$5:$E$12</c:f>
              <c:numCache>
                <c:formatCode>General</c:formatCode>
                <c:ptCount val="7"/>
                <c:pt idx="0">
                  <c:v>36</c:v>
                </c:pt>
                <c:pt idx="1">
                  <c:v>42</c:v>
                </c:pt>
                <c:pt idx="2">
                  <c:v>40</c:v>
                </c:pt>
                <c:pt idx="3">
                  <c:v>37</c:v>
                </c:pt>
                <c:pt idx="4">
                  <c:v>23</c:v>
                </c:pt>
                <c:pt idx="5">
                  <c:v>48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EB-4C9E-BA59-5DA905687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68694943"/>
        <c:axId val="1668690623"/>
        <c:axId val="0"/>
      </c:bar3DChart>
      <c:catAx>
        <c:axId val="16686949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90623"/>
        <c:crosses val="autoZero"/>
        <c:auto val="1"/>
        <c:lblAlgn val="ctr"/>
        <c:lblOffset val="100"/>
        <c:noMultiLvlLbl val="0"/>
      </c:catAx>
      <c:valAx>
        <c:axId val="16686906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PAYMENT METHOD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94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rgbClr val="92D050">
            <a:lumMod val="60000"/>
            <a:lumOff val="40000"/>
          </a:srgbClr>
        </a:gs>
        <a:gs pos="0">
          <a:srgbClr val="92D050"/>
        </a:gs>
        <a:gs pos="74000">
          <a:schemeClr val="accent1">
            <a:lumMod val="20000"/>
            <a:lumOff val="80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[DharaniTV_CPDA(SUN)_B1 UPDATED.xlsx]SUBSCRIPTION BY COUNTRY!PivotTable12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u="sng">
                <a:solidFill>
                  <a:srgbClr val="C00000"/>
                </a:solidFill>
              </a:rPr>
              <a:t>TOTAL REVENUE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30A0"/>
          </a:solidFill>
          <a:ln>
            <a:solidFill>
              <a:srgbClr val="FFFF00"/>
            </a:solidFill>
          </a:ln>
          <a:effectLst/>
          <a:sp3d>
            <a:contourClr>
              <a:srgbClr val="FFFF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'SUBSCRIPTION BY COUNTRY'!$B$3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rgbClr val="FFFF00"/>
              </a:solidFill>
            </a:ln>
            <a:effectLst/>
            <a:sp3d>
              <a:contourClr>
                <a:srgbClr val="FFFF00"/>
              </a:contourClr>
            </a:sp3d>
          </c:spPr>
          <c:invertIfNegative val="0"/>
          <c:cat>
            <c:strRef>
              <c:f>'SUBSCRIPTION BY COUNTRY'!$A$4:$A$11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'SUBSCRIPTION BY COUNTRY'!$B$4:$B$11</c:f>
              <c:numCache>
                <c:formatCode>General</c:formatCode>
                <c:ptCount val="7"/>
                <c:pt idx="0">
                  <c:v>1726.600000000001</c:v>
                </c:pt>
                <c:pt idx="1">
                  <c:v>1678.610000000001</c:v>
                </c:pt>
                <c:pt idx="2">
                  <c:v>1782.4900000000011</c:v>
                </c:pt>
                <c:pt idx="3">
                  <c:v>1738.5400000000011</c:v>
                </c:pt>
                <c:pt idx="4">
                  <c:v>1402.8400000000008</c:v>
                </c:pt>
                <c:pt idx="5">
                  <c:v>1806.5000000000011</c:v>
                </c:pt>
                <c:pt idx="6">
                  <c:v>1890.4200000000012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52-4360-B1D2-221A36802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21769199"/>
        <c:axId val="721769679"/>
        <c:axId val="0"/>
      </c:bar3DChart>
      <c:catAx>
        <c:axId val="7217691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1769679"/>
        <c:crosses val="autoZero"/>
        <c:auto val="1"/>
        <c:lblAlgn val="ctr"/>
        <c:lblOffset val="100"/>
        <c:noMultiLvlLbl val="0"/>
      </c:catAx>
      <c:valAx>
        <c:axId val="7217696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u="sng">
                    <a:solidFill>
                      <a:srgbClr val="00B050"/>
                    </a:solidFill>
                  </a:rPr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176919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rgbClr val="92D050">
            <a:lumMod val="60000"/>
            <a:lumOff val="40000"/>
          </a:srgbClr>
        </a:gs>
        <a:gs pos="0">
          <a:srgbClr val="92D050"/>
        </a:gs>
        <a:gs pos="74000">
          <a:schemeClr val="accent1">
            <a:lumMod val="20000"/>
            <a:lumOff val="80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Streaming Service User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b="1" dirty="0"/>
              <a:t>Business Insights &amp; Recommendations</a:t>
            </a:r>
          </a:p>
          <a:p>
            <a:r>
              <a:rPr b="1" dirty="0"/>
              <a:t>Prepared by: </a:t>
            </a:r>
            <a:r>
              <a:rPr b="1" dirty="0" err="1"/>
              <a:t>DharaniTV_CPDA</a:t>
            </a:r>
            <a:r>
              <a:rPr b="1" dirty="0"/>
              <a:t>(SUN)_B1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809" y="1600200"/>
            <a:ext cx="9007311" cy="469690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400" dirty="0"/>
              <a:t>• Dataset of 1,000 streaming service users analyzed for engagement, revenue, and demographics.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Insights derived from pivot tables and dashboard visualizations.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Key focus areas: Subscription revenue, User engagement, Demographics and Payment trends.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dirty="0"/>
              <a:t>• Recommendations target pricing optimization, personalization, and regional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Subscription &amp; Revenue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776" y="1609626"/>
            <a:ext cx="4114800" cy="48441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r>
              <a:rPr sz="2000" dirty="0"/>
              <a:t>Users are concentrated in mid-tier subscription plans, contributing the largest share of total revenue.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A</a:t>
            </a:r>
            <a:r>
              <a:rPr sz="2000" dirty="0"/>
              <a:t>verage monthly price yield stronger overall revenue.</a:t>
            </a:r>
          </a:p>
          <a:p>
            <a:pPr>
              <a:lnSpc>
                <a:spcPct val="150000"/>
              </a:lnSpc>
            </a:pPr>
            <a:r>
              <a:rPr sz="2000" dirty="0"/>
              <a:t>Recommendation: Introduce mid-tier bundles and localized pricing to balance growth and ARPU.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294E89-46BB-48BC-A2BE-634992D164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363475"/>
              </p:ext>
            </p:extLst>
          </p:nvPr>
        </p:nvGraphicFramePr>
        <p:xfrm>
          <a:off x="4389984" y="1600201"/>
          <a:ext cx="4587240" cy="234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EA49A88-4FFB-4800-961C-30B65A8167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8943000"/>
              </p:ext>
            </p:extLst>
          </p:nvPr>
        </p:nvGraphicFramePr>
        <p:xfrm>
          <a:off x="4389984" y="4129724"/>
          <a:ext cx="4472940" cy="232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Engagement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/>
              <a:t>Average watch hours vary significantly by age group — 25–34 and </a:t>
            </a:r>
            <a:r>
              <a:rPr lang="en-IN" sz="2000" dirty="0"/>
              <a:t>55+</a:t>
            </a:r>
            <a:r>
              <a:rPr sz="2000" dirty="0"/>
              <a:t> age segments are most active.</a:t>
            </a:r>
          </a:p>
          <a:p>
            <a:pPr>
              <a:lnSpc>
                <a:spcPct val="150000"/>
              </a:lnSpc>
            </a:pPr>
            <a:r>
              <a:rPr sz="2000" dirty="0"/>
              <a:t>Movies and Series consumption are </a:t>
            </a:r>
            <a:r>
              <a:rPr lang="en-IN" sz="2000" dirty="0"/>
              <a:t>not </a:t>
            </a:r>
            <a:r>
              <a:rPr sz="2000" dirty="0"/>
              <a:t>balanced, with </a:t>
            </a:r>
            <a:r>
              <a:rPr lang="en-IN" sz="2000" dirty="0"/>
              <a:t>significantly much </a:t>
            </a:r>
            <a:r>
              <a:rPr sz="2000" dirty="0"/>
              <a:t>higher engagement for </a:t>
            </a:r>
            <a:r>
              <a:rPr lang="en-IN" sz="2000" dirty="0"/>
              <a:t>movies</a:t>
            </a:r>
            <a:r>
              <a:rPr sz="2000" dirty="0"/>
              <a:t> content.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Recommended content is not being watched by majority of the users. Only 25% to 30% viewership are seen having an impact in the total content watched vs recommended content.</a:t>
            </a:r>
            <a:endParaRPr sz="2000" dirty="0"/>
          </a:p>
          <a:p>
            <a:pPr>
              <a:lnSpc>
                <a:spcPct val="150000"/>
              </a:lnSpc>
            </a:pPr>
            <a:r>
              <a:rPr sz="2000" dirty="0"/>
              <a:t>Recommendation: Strengthen content recommendation algorithms </a:t>
            </a:r>
            <a:r>
              <a:rPr lang="en-IN" sz="2000" dirty="0"/>
              <a:t>, based on age segments </a:t>
            </a:r>
            <a:r>
              <a:rPr sz="2000" dirty="0"/>
              <a:t>and focus on </a:t>
            </a:r>
            <a:r>
              <a:rPr lang="en-IN" sz="2000" dirty="0"/>
              <a:t>Movie based</a:t>
            </a:r>
            <a:r>
              <a:rPr sz="2000" dirty="0"/>
              <a:t> storytelling.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41BC-74D7-BD3D-94FC-61AB5D4E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Retention and Loyalty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10A76-2895-8041-B430-DD3DA3BA8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000" dirty="0"/>
              <a:t>All users in the data are active subscribers.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Loyalty points distribution doesn’t show any significant trends.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Since all the users are active, the relation between loyalty points and subscription cannot be established.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There is insufficient data to conclude about frequency of logins and downloads.</a:t>
            </a:r>
          </a:p>
          <a:p>
            <a:pPr>
              <a:lnSpc>
                <a:spcPct val="20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77765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 &amp; Behavioral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7339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000" dirty="0"/>
              <a:t>• Preferred genres differ by age: </a:t>
            </a:r>
            <a:r>
              <a:rPr lang="en-IN" sz="2000" dirty="0"/>
              <a:t>documentaries</a:t>
            </a:r>
            <a:r>
              <a:rPr sz="2000" dirty="0"/>
              <a:t> dominate among younger users; </a:t>
            </a:r>
            <a:r>
              <a:rPr lang="en-IN" sz="2000" dirty="0"/>
              <a:t>Comedy</a:t>
            </a:r>
            <a:r>
              <a:rPr sz="2000" dirty="0"/>
              <a:t> among older segments.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lang="en-IN" sz="2000" dirty="0"/>
              <a:t>Tablets</a:t>
            </a:r>
            <a:r>
              <a:rPr sz="2000" dirty="0"/>
              <a:t> </a:t>
            </a:r>
            <a:r>
              <a:rPr lang="en-IN" sz="2000" dirty="0"/>
              <a:t>and smartphones </a:t>
            </a:r>
            <a:r>
              <a:rPr sz="2000" dirty="0"/>
              <a:t>are the most common </a:t>
            </a:r>
            <a:r>
              <a:rPr lang="en-IN" sz="2000" dirty="0"/>
              <a:t>first access</a:t>
            </a:r>
            <a:r>
              <a:rPr sz="2000" dirty="0"/>
              <a:t> device, indicating a mobile-first</a:t>
            </a:r>
            <a:r>
              <a:rPr lang="en-IN" sz="2000" dirty="0"/>
              <a:t>/portable/handheld device</a:t>
            </a:r>
            <a:r>
              <a:rPr sz="2000" dirty="0"/>
              <a:t> user base.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lang="en-IN" sz="2000" dirty="0"/>
              <a:t>Late night and evenings are</a:t>
            </a:r>
            <a:r>
              <a:rPr sz="2000" dirty="0"/>
              <a:t> the dominant primary watch time slot</a:t>
            </a:r>
            <a:r>
              <a:rPr lang="en-IN" sz="2000" dirty="0"/>
              <a:t>s</a:t>
            </a:r>
            <a:r>
              <a:rPr sz="2000" dirty="0"/>
              <a:t>.</a:t>
            </a:r>
          </a:p>
          <a:p>
            <a:pPr marL="0" indent="0">
              <a:buNone/>
            </a:pPr>
            <a:r>
              <a:rPr sz="2000" dirty="0"/>
              <a:t>• Recommendation: Prioritize mobile</a:t>
            </a:r>
            <a:r>
              <a:rPr lang="en-IN" sz="2000" dirty="0"/>
              <a:t> and tablet</a:t>
            </a:r>
            <a:r>
              <a:rPr sz="2000" dirty="0"/>
              <a:t> UX and release new content in </a:t>
            </a:r>
            <a:r>
              <a:rPr lang="en-IN" sz="2000" dirty="0"/>
              <a:t>late night</a:t>
            </a:r>
            <a:r>
              <a:rPr sz="2000" dirty="0"/>
              <a:t> </a:t>
            </a:r>
            <a:r>
              <a:rPr lang="en-IN" sz="2000" dirty="0"/>
              <a:t>and evening </a:t>
            </a:r>
            <a:r>
              <a:rPr sz="2000" dirty="0"/>
              <a:t>time slots.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C8049D-C09D-46C3-A136-8DB3264B7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495925"/>
              </p:ext>
            </p:extLst>
          </p:nvPr>
        </p:nvGraphicFramePr>
        <p:xfrm>
          <a:off x="5052766" y="1319753"/>
          <a:ext cx="3634033" cy="2432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91F211B-AF3B-416F-8E30-277768ADC1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2195117"/>
              </p:ext>
            </p:extLst>
          </p:nvPr>
        </p:nvGraphicFramePr>
        <p:xfrm>
          <a:off x="5052767" y="3863181"/>
          <a:ext cx="3634033" cy="26041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&amp; Payment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07785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• </a:t>
            </a:r>
            <a:r>
              <a:rPr lang="en-IN" sz="2000" dirty="0" err="1"/>
              <a:t>Paypal</a:t>
            </a:r>
            <a:r>
              <a:rPr sz="2000" dirty="0"/>
              <a:t> and </a:t>
            </a:r>
            <a:r>
              <a:rPr lang="en-IN" sz="2000" dirty="0"/>
              <a:t>Debit card </a:t>
            </a:r>
            <a:r>
              <a:rPr sz="2000" dirty="0"/>
              <a:t>are dominant payment methods, </a:t>
            </a:r>
            <a:r>
              <a:rPr lang="en-IN" sz="2000" dirty="0" err="1"/>
              <a:t>Paypal</a:t>
            </a:r>
            <a:r>
              <a:rPr lang="en-IN" sz="2000" dirty="0"/>
              <a:t> being the most dominant .</a:t>
            </a:r>
            <a:endParaRPr sz="2000" dirty="0"/>
          </a:p>
          <a:p>
            <a:pPr marL="0" indent="0">
              <a:buNone/>
            </a:pPr>
            <a:r>
              <a:rPr sz="2000" dirty="0"/>
              <a:t>• </a:t>
            </a:r>
            <a:r>
              <a:rPr lang="en-IN" sz="2000" dirty="0"/>
              <a:t>R</a:t>
            </a:r>
            <a:r>
              <a:rPr sz="2000" dirty="0" err="1"/>
              <a:t>evenue</a:t>
            </a:r>
            <a:r>
              <a:rPr sz="2000" dirty="0"/>
              <a:t> concentration in top countries suggests potential for localized promotions.</a:t>
            </a:r>
          </a:p>
          <a:p>
            <a:pPr marL="0" indent="0">
              <a:buNone/>
            </a:pPr>
            <a:r>
              <a:rPr sz="2000" dirty="0"/>
              <a:t>• Recommendation: Add regional payment options and localize content for underperforming regions.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D0A646-05B6-48CB-95AE-7212FCD151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181350"/>
              </p:ext>
            </p:extLst>
          </p:nvPr>
        </p:nvGraphicFramePr>
        <p:xfrm>
          <a:off x="3926264" y="11199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FAC300-642A-42B0-937C-0D3A06BBA0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704074"/>
              </p:ext>
            </p:extLst>
          </p:nvPr>
        </p:nvGraphicFramePr>
        <p:xfrm>
          <a:off x="3926264" y="393569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000" dirty="0"/>
              <a:t>Optimize pricing tiers and introduce localized bundles.</a:t>
            </a:r>
          </a:p>
          <a:p>
            <a:pPr>
              <a:lnSpc>
                <a:spcPct val="200000"/>
              </a:lnSpc>
            </a:pPr>
            <a:r>
              <a:rPr sz="2000" dirty="0"/>
              <a:t> Invest in data-driven personalization and content recommendations.</a:t>
            </a:r>
          </a:p>
          <a:p>
            <a:pPr>
              <a:lnSpc>
                <a:spcPct val="200000"/>
              </a:lnSpc>
            </a:pPr>
            <a:r>
              <a:rPr sz="2000" dirty="0"/>
              <a:t>Enhance mobile</a:t>
            </a:r>
            <a:r>
              <a:rPr lang="en-IN" sz="2000" dirty="0"/>
              <a:t> </a:t>
            </a:r>
            <a:r>
              <a:rPr sz="2000" dirty="0"/>
              <a:t>experience and promote evening-time</a:t>
            </a:r>
            <a:r>
              <a:rPr lang="en-IN" sz="2000" dirty="0"/>
              <a:t> and late night</a:t>
            </a:r>
            <a:r>
              <a:rPr sz="2000" dirty="0"/>
              <a:t> premieres.</a:t>
            </a:r>
            <a:endParaRPr lang="en-IN" sz="2000" dirty="0"/>
          </a:p>
          <a:p>
            <a:pPr>
              <a:lnSpc>
                <a:spcPct val="200000"/>
              </a:lnSpc>
            </a:pPr>
            <a:r>
              <a:rPr sz="2000" dirty="0"/>
              <a:t> Expand regional payment options and language offerings to boost engagement.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000" dirty="0"/>
              <a:t>The analysis highlights the importance of balancing revenue growth with user engagement.</a:t>
            </a:r>
          </a:p>
          <a:p>
            <a:pPr>
              <a:lnSpc>
                <a:spcPct val="200000"/>
              </a:lnSpc>
            </a:pPr>
            <a:r>
              <a:rPr sz="2000" dirty="0"/>
              <a:t>Focus on personalized recommendations</a:t>
            </a:r>
            <a:r>
              <a:rPr lang="en-IN" sz="2000" dirty="0"/>
              <a:t> based on age and genre.</a:t>
            </a:r>
          </a:p>
          <a:p>
            <a:pPr>
              <a:lnSpc>
                <a:spcPct val="200000"/>
              </a:lnSpc>
            </a:pPr>
            <a:r>
              <a:rPr sz="2000" dirty="0"/>
              <a:t> </a:t>
            </a:r>
            <a:r>
              <a:rPr lang="en-IN" sz="2000" dirty="0"/>
              <a:t>M</a:t>
            </a:r>
            <a:r>
              <a:rPr sz="2000" dirty="0" err="1"/>
              <a:t>obile</a:t>
            </a:r>
            <a:r>
              <a:rPr sz="2000" dirty="0"/>
              <a:t>-first design</a:t>
            </a:r>
            <a:r>
              <a:rPr lang="en-IN" sz="2000" dirty="0"/>
              <a:t> with strategies and features promoting smart phone and tablet ease and usage.</a:t>
            </a:r>
            <a:r>
              <a:rPr sz="2000" dirty="0"/>
              <a:t> </a:t>
            </a:r>
            <a:endParaRPr lang="en-IN" sz="2000" dirty="0"/>
          </a:p>
          <a:p>
            <a:pPr>
              <a:lnSpc>
                <a:spcPct val="200000"/>
              </a:lnSpc>
            </a:pPr>
            <a:r>
              <a:rPr lang="en-IN" sz="2000" dirty="0"/>
              <a:t>Movie based content </a:t>
            </a:r>
            <a:r>
              <a:rPr sz="2000" dirty="0"/>
              <a:t>strategies</a:t>
            </a:r>
            <a:r>
              <a:rPr lang="en-IN" sz="2000" dirty="0"/>
              <a:t>, series with shorter length can </a:t>
            </a:r>
            <a:r>
              <a:rPr sz="2000" dirty="0"/>
              <a:t>can significantly enhance user satisfaction and business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534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Streaming Service User Analysis</vt:lpstr>
      <vt:lpstr>Summary</vt:lpstr>
      <vt:lpstr>Subscription &amp; Revenue Insights</vt:lpstr>
      <vt:lpstr>User Engagement Insights</vt:lpstr>
      <vt:lpstr>Retention and Loyalty</vt:lpstr>
      <vt:lpstr>Demographic &amp; Behavioral Insights</vt:lpstr>
      <vt:lpstr>Regional &amp; Payment Trends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Vedavati Hattibelagal</dc:creator>
  <cp:keywords/>
  <dc:description>generated using python-pptx</dc:description>
  <cp:lastModifiedBy>Dharani T V</cp:lastModifiedBy>
  <cp:revision>3</cp:revision>
  <dcterms:created xsi:type="dcterms:W3CDTF">2013-01-27T09:14:16Z</dcterms:created>
  <dcterms:modified xsi:type="dcterms:W3CDTF">2025-10-26T18:03:41Z</dcterms:modified>
  <cp:category/>
</cp:coreProperties>
</file>